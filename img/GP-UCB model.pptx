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04" r:id="rId1"/>
  </p:sldMasterIdLst>
  <p:notesMasterIdLst>
    <p:notesMasterId r:id="rId4"/>
  </p:notesMasterIdLst>
  <p:sldIdLst>
    <p:sldId id="256" r:id="rId2"/>
    <p:sldId id="257" r:id="rId3"/>
  </p:sldIdLst>
  <p:sldSz cx="15479713" cy="3240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05E665-B732-8C49-B033-24C79CD7EFD8}" v="15" dt="2025-08-22T13:33:53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213"/>
    <p:restoredTop sz="94608"/>
  </p:normalViewPr>
  <p:slideViewPr>
    <p:cSldViewPr snapToGrid="0">
      <p:cViewPr varScale="1">
        <p:scale>
          <a:sx n="107" d="100"/>
          <a:sy n="107" d="100"/>
        </p:scale>
        <p:origin x="192" y="1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jörn Meder HMU Potsdam" userId="d258dbf6-ab6a-4282-851d-9abdcd54331d" providerId="ADAL" clId="{4DFD6B1A-A511-587B-86A6-0ACC1CABEBE3}"/>
    <pc:docChg chg="undo custSel addSld modSld">
      <pc:chgData name="Björn Meder HMU Potsdam" userId="d258dbf6-ab6a-4282-851d-9abdcd54331d" providerId="ADAL" clId="{4DFD6B1A-A511-587B-86A6-0ACC1CABEBE3}" dt="2025-08-22T16:08:16.288" v="120" actId="1037"/>
      <pc:docMkLst>
        <pc:docMk/>
      </pc:docMkLst>
      <pc:sldChg chg="addSp delSp modSp add mod">
        <pc:chgData name="Björn Meder HMU Potsdam" userId="d258dbf6-ab6a-4282-851d-9abdcd54331d" providerId="ADAL" clId="{4DFD6B1A-A511-587B-86A6-0ACC1CABEBE3}" dt="2025-08-22T16:08:16.288" v="120" actId="1037"/>
        <pc:sldMkLst>
          <pc:docMk/>
          <pc:sldMk cId="2162781153" sldId="257"/>
        </pc:sldMkLst>
        <pc:spChg chg="add del mod">
          <ac:chgData name="Björn Meder HMU Potsdam" userId="d258dbf6-ab6a-4282-851d-9abdcd54331d" providerId="ADAL" clId="{4DFD6B1A-A511-587B-86A6-0ACC1CABEBE3}" dt="2025-08-22T13:36:23.430" v="65" actId="478"/>
          <ac:spMkLst>
            <pc:docMk/>
            <pc:sldMk cId="2162781153" sldId="257"/>
            <ac:spMk id="2" creationId="{15A5FB81-990E-9080-A51C-5302D00A642D}"/>
          </ac:spMkLst>
        </pc:spChg>
        <pc:spChg chg="add mod">
          <ac:chgData name="Björn Meder HMU Potsdam" userId="d258dbf6-ab6a-4282-851d-9abdcd54331d" providerId="ADAL" clId="{4DFD6B1A-A511-587B-86A6-0ACC1CABEBE3}" dt="2025-08-22T13:36:18.324" v="64" actId="1035"/>
          <ac:spMkLst>
            <pc:docMk/>
            <pc:sldMk cId="2162781153" sldId="257"/>
            <ac:spMk id="3" creationId="{9DF09782-66BA-6EC5-FD66-8CCC79071751}"/>
          </ac:spMkLst>
        </pc:spChg>
        <pc:spChg chg="add mod">
          <ac:chgData name="Björn Meder HMU Potsdam" userId="d258dbf6-ab6a-4282-851d-9abdcd54331d" providerId="ADAL" clId="{4DFD6B1A-A511-587B-86A6-0ACC1CABEBE3}" dt="2025-08-22T13:36:18.324" v="64" actId="1035"/>
          <ac:spMkLst>
            <pc:docMk/>
            <pc:sldMk cId="2162781153" sldId="257"/>
            <ac:spMk id="4" creationId="{430AAB02-2D41-7FEF-3EE1-516B6A2DB5FE}"/>
          </ac:spMkLst>
        </pc:spChg>
        <pc:spChg chg="del">
          <ac:chgData name="Björn Meder HMU Potsdam" userId="d258dbf6-ab6a-4282-851d-9abdcd54331d" providerId="ADAL" clId="{4DFD6B1A-A511-587B-86A6-0ACC1CABEBE3}" dt="2025-08-22T13:31:12.414" v="1" actId="478"/>
          <ac:spMkLst>
            <pc:docMk/>
            <pc:sldMk cId="2162781153" sldId="257"/>
            <ac:spMk id="126" creationId="{61A0CABA-6178-F31E-4450-036941C40425}"/>
          </ac:spMkLst>
        </pc:spChg>
        <pc:spChg chg="del">
          <ac:chgData name="Björn Meder HMU Potsdam" userId="d258dbf6-ab6a-4282-851d-9abdcd54331d" providerId="ADAL" clId="{4DFD6B1A-A511-587B-86A6-0ACC1CABEBE3}" dt="2025-08-22T13:31:16.026" v="2" actId="478"/>
          <ac:spMkLst>
            <pc:docMk/>
            <pc:sldMk cId="2162781153" sldId="257"/>
            <ac:spMk id="127" creationId="{BAEC18AD-C9D7-D10C-8B42-255A8263CCC2}"/>
          </ac:spMkLst>
        </pc:spChg>
        <pc:spChg chg="mod">
          <ac:chgData name="Björn Meder HMU Potsdam" userId="d258dbf6-ab6a-4282-851d-9abdcd54331d" providerId="ADAL" clId="{4DFD6B1A-A511-587B-86A6-0ACC1CABEBE3}" dt="2025-08-22T16:08:13.156" v="117" actId="1038"/>
          <ac:spMkLst>
            <pc:docMk/>
            <pc:sldMk cId="2162781153" sldId="257"/>
            <ac:spMk id="128" creationId="{4BFB5192-6DDE-2644-EB60-3F8655EC779D}"/>
          </ac:spMkLst>
        </pc:spChg>
        <pc:spChg chg="mod">
          <ac:chgData name="Björn Meder HMU Potsdam" userId="d258dbf6-ab6a-4282-851d-9abdcd54331d" providerId="ADAL" clId="{4DFD6B1A-A511-587B-86A6-0ACC1CABEBE3}" dt="2025-08-22T16:06:06.878" v="101" actId="1038"/>
          <ac:spMkLst>
            <pc:docMk/>
            <pc:sldMk cId="2162781153" sldId="257"/>
            <ac:spMk id="129" creationId="{47A3F61F-CC7F-4842-5562-D96851CD91A3}"/>
          </ac:spMkLst>
        </pc:spChg>
        <pc:spChg chg="mod">
          <ac:chgData name="Björn Meder HMU Potsdam" userId="d258dbf6-ab6a-4282-851d-9abdcd54331d" providerId="ADAL" clId="{4DFD6B1A-A511-587B-86A6-0ACC1CABEBE3}" dt="2025-08-22T16:08:16.288" v="120" actId="1037"/>
          <ac:spMkLst>
            <pc:docMk/>
            <pc:sldMk cId="2162781153" sldId="257"/>
            <ac:spMk id="130" creationId="{30F20D44-CAC9-5025-98A3-1DFC0D55FA7A}"/>
          </ac:spMkLst>
        </pc:spChg>
        <pc:spChg chg="mod">
          <ac:chgData name="Björn Meder HMU Potsdam" userId="d258dbf6-ab6a-4282-851d-9abdcd54331d" providerId="ADAL" clId="{4DFD6B1A-A511-587B-86A6-0ACC1CABEBE3}" dt="2025-08-22T16:08:01.702" v="109" actId="1037"/>
          <ac:spMkLst>
            <pc:docMk/>
            <pc:sldMk cId="2162781153" sldId="257"/>
            <ac:spMk id="131" creationId="{8A29EEA5-98EC-C524-B8BB-20B5181B7628}"/>
          </ac:spMkLst>
        </pc:spChg>
        <pc:spChg chg="mod">
          <ac:chgData name="Björn Meder HMU Potsdam" userId="d258dbf6-ab6a-4282-851d-9abdcd54331d" providerId="ADAL" clId="{4DFD6B1A-A511-587B-86A6-0ACC1CABEBE3}" dt="2025-08-22T16:08:05.129" v="112" actId="1037"/>
          <ac:spMkLst>
            <pc:docMk/>
            <pc:sldMk cId="2162781153" sldId="257"/>
            <ac:spMk id="132" creationId="{836EC54B-FF28-75A0-A22C-6DC0080B46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C99F2B-1E7B-6B45-A3DF-F4C0CAAC18D2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3943350" y="1143000"/>
            <a:ext cx="14744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CA27ED-346A-4D4F-AD1E-98498D6848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35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1pPr>
    <a:lvl2pPr marL="440558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2pPr>
    <a:lvl3pPr marL="881116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3pPr>
    <a:lvl4pPr marL="1321674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4pPr>
    <a:lvl5pPr marL="1762232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5pPr>
    <a:lvl6pPr marL="2202790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6pPr>
    <a:lvl7pPr marL="2643348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7pPr>
    <a:lvl8pPr marL="3083905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8pPr>
    <a:lvl9pPr marL="3524463" algn="l" defTabSz="881116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3943350" y="1143000"/>
            <a:ext cx="147447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A27ED-346A-4D4F-AD1E-98498D6848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40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973F25-9E59-F19D-CF38-A45FE6DB1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ABB460-884C-6887-C3CC-860AC2786F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3943350" y="1143000"/>
            <a:ext cx="147447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126A20-2F61-3D39-74D2-39AADAFC01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D9AEF-67E7-3160-834A-F2618C1968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CA27ED-346A-4D4F-AD1E-98498D6848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647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34964" y="530264"/>
            <a:ext cx="11609785" cy="1128031"/>
          </a:xfrm>
        </p:spPr>
        <p:txBody>
          <a:bodyPr anchor="b"/>
          <a:lstStyle>
            <a:lvl1pPr algn="ctr">
              <a:defRPr sz="28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34964" y="1701796"/>
            <a:ext cx="11609785" cy="782271"/>
          </a:xfrm>
        </p:spPr>
        <p:txBody>
          <a:bodyPr/>
          <a:lstStyle>
            <a:lvl1pPr marL="0" indent="0" algn="ctr">
              <a:buNone/>
              <a:defRPr sz="1134"/>
            </a:lvl1pPr>
            <a:lvl2pPr marL="216027" indent="0" algn="ctr">
              <a:buNone/>
              <a:defRPr sz="945"/>
            </a:lvl2pPr>
            <a:lvl3pPr marL="432054" indent="0" algn="ctr">
              <a:buNone/>
              <a:defRPr sz="851"/>
            </a:lvl3pPr>
            <a:lvl4pPr marL="648081" indent="0" algn="ctr">
              <a:buNone/>
              <a:defRPr sz="756"/>
            </a:lvl4pPr>
            <a:lvl5pPr marL="864108" indent="0" algn="ctr">
              <a:buNone/>
              <a:defRPr sz="756"/>
            </a:lvl5pPr>
            <a:lvl6pPr marL="1080135" indent="0" algn="ctr">
              <a:buNone/>
              <a:defRPr sz="756"/>
            </a:lvl6pPr>
            <a:lvl7pPr marL="1296162" indent="0" algn="ctr">
              <a:buNone/>
              <a:defRPr sz="756"/>
            </a:lvl7pPr>
            <a:lvl8pPr marL="1512189" indent="0" algn="ctr">
              <a:buNone/>
              <a:defRPr sz="756"/>
            </a:lvl8pPr>
            <a:lvl9pPr marL="1728216" indent="0" algn="ctr">
              <a:buNone/>
              <a:defRPr sz="75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9701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044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6168" y="807773"/>
            <a:ext cx="13351252" cy="1347786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6168" y="2168309"/>
            <a:ext cx="13351252" cy="708769"/>
          </a:xfrm>
        </p:spPr>
        <p:txBody>
          <a:bodyPr/>
          <a:lstStyle>
            <a:lvl1pPr marL="0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1pPr>
            <a:lvl2pPr marL="216027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2pPr>
            <a:lvl3pPr marL="432054" indent="0">
              <a:buNone/>
              <a:defRPr sz="851">
                <a:solidFill>
                  <a:schemeClr val="tx1">
                    <a:tint val="82000"/>
                  </a:schemeClr>
                </a:solidFill>
              </a:defRPr>
            </a:lvl3pPr>
            <a:lvl4pPr marL="648081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4pPr>
            <a:lvl5pPr marL="864108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5pPr>
            <a:lvl6pPr marL="1080135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6pPr>
            <a:lvl7pPr marL="1296162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7pPr>
            <a:lvl8pPr marL="1512189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8pPr>
            <a:lvl9pPr marL="1728216" indent="0">
              <a:buNone/>
              <a:defRPr sz="75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216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4230" y="862523"/>
            <a:ext cx="6578878" cy="20558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36605" y="862523"/>
            <a:ext cx="6578878" cy="20558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4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172505"/>
            <a:ext cx="13351252" cy="6262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247" y="794272"/>
            <a:ext cx="6548644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247" y="1183532"/>
            <a:ext cx="6548644" cy="17407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36605" y="794272"/>
            <a:ext cx="6580894" cy="389260"/>
          </a:xfrm>
        </p:spPr>
        <p:txBody>
          <a:bodyPr anchor="b"/>
          <a:lstStyle>
            <a:lvl1pPr marL="0" indent="0">
              <a:buNone/>
              <a:defRPr sz="1134" b="1"/>
            </a:lvl1pPr>
            <a:lvl2pPr marL="216027" indent="0">
              <a:buNone/>
              <a:defRPr sz="945" b="1"/>
            </a:lvl2pPr>
            <a:lvl3pPr marL="432054" indent="0">
              <a:buNone/>
              <a:defRPr sz="851" b="1"/>
            </a:lvl3pPr>
            <a:lvl4pPr marL="648081" indent="0">
              <a:buNone/>
              <a:defRPr sz="756" b="1"/>
            </a:lvl4pPr>
            <a:lvl5pPr marL="864108" indent="0">
              <a:buNone/>
              <a:defRPr sz="756" b="1"/>
            </a:lvl5pPr>
            <a:lvl6pPr marL="1080135" indent="0">
              <a:buNone/>
              <a:defRPr sz="756" b="1"/>
            </a:lvl6pPr>
            <a:lvl7pPr marL="1296162" indent="0">
              <a:buNone/>
              <a:defRPr sz="756" b="1"/>
            </a:lvl7pPr>
            <a:lvl8pPr marL="1512189" indent="0">
              <a:buNone/>
              <a:defRPr sz="756" b="1"/>
            </a:lvl8pPr>
            <a:lvl9pPr marL="1728216" indent="0">
              <a:buNone/>
              <a:defRPr sz="75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36605" y="1183532"/>
            <a:ext cx="6580894" cy="17407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59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70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55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216006"/>
            <a:ext cx="4992610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0894" y="466513"/>
            <a:ext cx="7836605" cy="2302563"/>
          </a:xfrm>
        </p:spPr>
        <p:txBody>
          <a:bodyPr/>
          <a:lstStyle>
            <a:lvl1pPr>
              <a:defRPr sz="1512"/>
            </a:lvl1pPr>
            <a:lvl2pPr>
              <a:defRPr sz="1323"/>
            </a:lvl2pPr>
            <a:lvl3pPr>
              <a:defRPr sz="1134"/>
            </a:lvl3pPr>
            <a:lvl4pPr>
              <a:defRPr sz="945"/>
            </a:lvl4pPr>
            <a:lvl5pPr>
              <a:defRPr sz="945"/>
            </a:lvl5pPr>
            <a:lvl6pPr>
              <a:defRPr sz="945"/>
            </a:lvl6pPr>
            <a:lvl7pPr>
              <a:defRPr sz="945"/>
            </a:lvl7pPr>
            <a:lvl8pPr>
              <a:defRPr sz="945"/>
            </a:lvl8pPr>
            <a:lvl9pPr>
              <a:defRPr sz="94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972026"/>
            <a:ext cx="4992610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203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247" y="216006"/>
            <a:ext cx="4992610" cy="756021"/>
          </a:xfrm>
        </p:spPr>
        <p:txBody>
          <a:bodyPr anchor="b"/>
          <a:lstStyle>
            <a:lvl1pPr>
              <a:defRPr sz="1512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80894" y="466513"/>
            <a:ext cx="7836605" cy="2302563"/>
          </a:xfrm>
        </p:spPr>
        <p:txBody>
          <a:bodyPr anchor="t"/>
          <a:lstStyle>
            <a:lvl1pPr marL="0" indent="0">
              <a:buNone/>
              <a:defRPr sz="1512"/>
            </a:lvl1pPr>
            <a:lvl2pPr marL="216027" indent="0">
              <a:buNone/>
              <a:defRPr sz="1323"/>
            </a:lvl2pPr>
            <a:lvl3pPr marL="432054" indent="0">
              <a:buNone/>
              <a:defRPr sz="1134"/>
            </a:lvl3pPr>
            <a:lvl4pPr marL="648081" indent="0">
              <a:buNone/>
              <a:defRPr sz="945"/>
            </a:lvl4pPr>
            <a:lvl5pPr marL="864108" indent="0">
              <a:buNone/>
              <a:defRPr sz="945"/>
            </a:lvl5pPr>
            <a:lvl6pPr marL="1080135" indent="0">
              <a:buNone/>
              <a:defRPr sz="945"/>
            </a:lvl6pPr>
            <a:lvl7pPr marL="1296162" indent="0">
              <a:buNone/>
              <a:defRPr sz="945"/>
            </a:lvl7pPr>
            <a:lvl8pPr marL="1512189" indent="0">
              <a:buNone/>
              <a:defRPr sz="945"/>
            </a:lvl8pPr>
            <a:lvl9pPr marL="1728216" indent="0">
              <a:buNone/>
              <a:defRPr sz="94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6247" y="972026"/>
            <a:ext cx="4992610" cy="1800799"/>
          </a:xfrm>
        </p:spPr>
        <p:txBody>
          <a:bodyPr/>
          <a:lstStyle>
            <a:lvl1pPr marL="0" indent="0">
              <a:buNone/>
              <a:defRPr sz="756"/>
            </a:lvl1pPr>
            <a:lvl2pPr marL="216027" indent="0">
              <a:buNone/>
              <a:defRPr sz="662"/>
            </a:lvl2pPr>
            <a:lvl3pPr marL="432054" indent="0">
              <a:buNone/>
              <a:defRPr sz="567"/>
            </a:lvl3pPr>
            <a:lvl4pPr marL="648081" indent="0">
              <a:buNone/>
              <a:defRPr sz="472"/>
            </a:lvl4pPr>
            <a:lvl5pPr marL="864108" indent="0">
              <a:buNone/>
              <a:defRPr sz="472"/>
            </a:lvl5pPr>
            <a:lvl6pPr marL="1080135" indent="0">
              <a:buNone/>
              <a:defRPr sz="472"/>
            </a:lvl6pPr>
            <a:lvl7pPr marL="1296162" indent="0">
              <a:buNone/>
              <a:defRPr sz="472"/>
            </a:lvl7pPr>
            <a:lvl8pPr marL="1512189" indent="0">
              <a:buNone/>
              <a:defRPr sz="472"/>
            </a:lvl8pPr>
            <a:lvl9pPr marL="1728216" indent="0">
              <a:buNone/>
              <a:defRPr sz="472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562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07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077670" y="172505"/>
            <a:ext cx="3337813" cy="27458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4230" y="172505"/>
            <a:ext cx="9819943" cy="27458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4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4231" y="172505"/>
            <a:ext cx="13351252" cy="626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4231" y="862523"/>
            <a:ext cx="13351252" cy="20558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4230" y="3003082"/>
            <a:ext cx="3482935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5FBF7-6189-C04A-8896-44241FF05286}" type="datetimeFigureOut">
              <a:rPr lang="en-US" smtClean="0"/>
              <a:t>8/22/25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27655" y="3003082"/>
            <a:ext cx="5224403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32548" y="3003082"/>
            <a:ext cx="3482935" cy="1725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7E45E7-90D6-4A4C-B8E7-5AC99C15C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256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l" defTabSz="432054" rtl="0" eaLnBrk="1" latinLnBrk="0" hangingPunct="1">
        <a:lnSpc>
          <a:spcPct val="90000"/>
        </a:lnSpc>
        <a:spcBef>
          <a:spcPct val="0"/>
        </a:spcBef>
        <a:buNone/>
        <a:defRPr sz="207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8014" indent="-108014" algn="l" defTabSz="432054" rtl="0" eaLnBrk="1" latinLnBrk="0" hangingPunct="1">
        <a:lnSpc>
          <a:spcPct val="90000"/>
        </a:lnSpc>
        <a:spcBef>
          <a:spcPts val="472"/>
        </a:spcBef>
        <a:buFont typeface="Arial" panose="020B0604020202020204" pitchFamily="34" charset="0"/>
        <a:buChar char="•"/>
        <a:defRPr sz="1323" kern="1200">
          <a:solidFill>
            <a:schemeClr val="tx1"/>
          </a:solidFill>
          <a:latin typeface="+mn-lt"/>
          <a:ea typeface="+mn-ea"/>
          <a:cs typeface="+mn-cs"/>
        </a:defRPr>
      </a:lvl1pPr>
      <a:lvl2pPr marL="324041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40068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56095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972122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9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6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3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836230" indent="-108014" algn="l" defTabSz="432054" rtl="0" eaLnBrk="1" latinLnBrk="0" hangingPunct="1">
        <a:lnSpc>
          <a:spcPct val="90000"/>
        </a:lnSpc>
        <a:spcBef>
          <a:spcPts val="236"/>
        </a:spcBef>
        <a:buFont typeface="Arial" panose="020B0604020202020204" pitchFamily="34" charset="0"/>
        <a:buChar char="•"/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algn="l" defTabSz="432054" rtl="0" eaLnBrk="1" latinLnBrk="0" hangingPunct="1">
        <a:defRPr sz="8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FC81F154-71FF-9EFA-836B-D8B5D29A7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54" y="225583"/>
            <a:ext cx="15274985" cy="2984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Equation">
                <a:extLst>
                  <a:ext uri="{FF2B5EF4-FFF2-40B4-BE49-F238E27FC236}">
                    <a16:creationId xmlns:a16="http://schemas.microsoft.com/office/drawing/2014/main" id="{8C33B5BE-93B6-EE74-FF38-53C76DA0C468}"/>
                  </a:ext>
                </a:extLst>
              </p:cNvPr>
              <p:cNvSpPr txBox="1"/>
              <p:nvPr/>
            </p:nvSpPr>
            <p:spPr>
              <a:xfrm>
                <a:off x="8259889" y="6950082"/>
                <a:ext cx="2765116" cy="30777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m:rPr>
                          <m:sty m:val="p"/>
                        </m:rP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𝑈𝐶𝐵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0" name="Equation">
                <a:extLst>
                  <a:ext uri="{FF2B5EF4-FFF2-40B4-BE49-F238E27FC236}">
                    <a16:creationId xmlns:a16="http://schemas.microsoft.com/office/drawing/2014/main" id="{8C33B5BE-93B6-EE74-FF38-53C76DA0C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889" y="6950082"/>
                <a:ext cx="2765116" cy="307777"/>
              </a:xfrm>
              <a:prstGeom prst="rect">
                <a:avLst/>
              </a:prstGeom>
              <a:blipFill>
                <a:blip r:embed="rId4"/>
                <a:stretch>
                  <a:fillRect l="-1826" r="-2740" b="-32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Equation">
                <a:extLst>
                  <a:ext uri="{FF2B5EF4-FFF2-40B4-BE49-F238E27FC236}">
                    <a16:creationId xmlns:a16="http://schemas.microsoft.com/office/drawing/2014/main" id="{53E71FA6-7436-D14E-30B7-7EE8E2885AA4}"/>
                  </a:ext>
                </a:extLst>
              </p:cNvPr>
              <p:cNvSpPr txBox="1"/>
              <p:nvPr/>
            </p:nvSpPr>
            <p:spPr>
              <a:xfrm>
                <a:off x="5106968" y="6950082"/>
                <a:ext cx="2969787" cy="30777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𝑈𝐶𝐵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𝛽𝜎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1" name="Equation">
                <a:extLst>
                  <a:ext uri="{FF2B5EF4-FFF2-40B4-BE49-F238E27FC236}">
                    <a16:creationId xmlns:a16="http://schemas.microsoft.com/office/drawing/2014/main" id="{53E71FA6-7436-D14E-30B7-7EE8E2885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968" y="6950082"/>
                <a:ext cx="2969787" cy="307777"/>
              </a:xfrm>
              <a:prstGeom prst="rect">
                <a:avLst/>
              </a:prstGeom>
              <a:blipFill>
                <a:blip r:embed="rId5"/>
                <a:stretch>
                  <a:fillRect l="-1709" r="-2564" b="-32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Equation">
                <a:extLst>
                  <a:ext uri="{FF2B5EF4-FFF2-40B4-BE49-F238E27FC236}">
                    <a16:creationId xmlns:a16="http://schemas.microsoft.com/office/drawing/2014/main" id="{8C2214F3-2BA3-D311-FF4E-A78D60040F0B}"/>
                  </a:ext>
                </a:extLst>
              </p:cNvPr>
              <p:cNvSpPr txBox="1"/>
              <p:nvPr/>
            </p:nvSpPr>
            <p:spPr>
              <a:xfrm>
                <a:off x="704429" y="6742703"/>
                <a:ext cx="3647922" cy="6976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𝑅𝐵𝐹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2" name="Equation">
                <a:extLst>
                  <a:ext uri="{FF2B5EF4-FFF2-40B4-BE49-F238E27FC236}">
                    <a16:creationId xmlns:a16="http://schemas.microsoft.com/office/drawing/2014/main" id="{8C2214F3-2BA3-D311-FF4E-A78D60040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29" y="6742703"/>
                <a:ext cx="3647922" cy="697692"/>
              </a:xfrm>
              <a:prstGeom prst="rect">
                <a:avLst/>
              </a:prstGeom>
              <a:blipFill>
                <a:blip r:embed="rId6"/>
                <a:stretch>
                  <a:fillRect l="-138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001CCC67-FE0D-16FC-7D16-A65DE6C4B194}"/>
              </a:ext>
            </a:extLst>
          </p:cNvPr>
          <p:cNvSpPr txBox="1">
            <a:spLocks/>
          </p:cNvSpPr>
          <p:nvPr/>
        </p:nvSpPr>
        <p:spPr>
          <a:xfrm>
            <a:off x="778601" y="7438382"/>
            <a:ext cx="4028490" cy="112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15963" indent="-373063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tabLst/>
              <a:defRPr sz="18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de-DE" sz="2600" b="1" dirty="0" err="1">
                <a:solidFill>
                  <a:srgbClr val="0391A3"/>
                </a:solidFill>
              </a:rPr>
              <a:t>Generalization</a:t>
            </a:r>
            <a:endParaRPr lang="de-DE" sz="2600" b="1" dirty="0">
              <a:solidFill>
                <a:srgbClr val="0391A3"/>
              </a:solidFill>
            </a:endParaRPr>
          </a:p>
          <a:p>
            <a:pPr>
              <a:spcBef>
                <a:spcPts val="0"/>
              </a:spcBef>
            </a:pPr>
            <a:r>
              <a:rPr lang="en-GB" sz="2600" dirty="0"/>
              <a:t>higher </a:t>
            </a:r>
            <a:r>
              <a:rPr lang="el-GR" sz="2600" dirty="0"/>
              <a:t>λ</a:t>
            </a:r>
            <a:r>
              <a:rPr lang="de-DE" sz="2600" dirty="0"/>
              <a:t> = smoother, </a:t>
            </a:r>
            <a:r>
              <a:rPr lang="de-DE" sz="2600" dirty="0" err="1"/>
              <a:t>higher</a:t>
            </a:r>
            <a:r>
              <a:rPr lang="de-DE" sz="2600" dirty="0"/>
              <a:t> </a:t>
            </a:r>
            <a:r>
              <a:rPr lang="de-DE" sz="2600" dirty="0" err="1"/>
              <a:t>correlation</a:t>
            </a:r>
            <a:r>
              <a:rPr lang="en-GB" sz="2600" dirty="0"/>
              <a:t> </a:t>
            </a:r>
            <a:endParaRPr lang="en-US" sz="2600" dirty="0"/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6759EAF2-FA5A-FFC9-C28E-D788610AC022}"/>
              </a:ext>
            </a:extLst>
          </p:cNvPr>
          <p:cNvSpPr txBox="1">
            <a:spLocks/>
          </p:cNvSpPr>
          <p:nvPr/>
        </p:nvSpPr>
        <p:spPr>
          <a:xfrm>
            <a:off x="4991056" y="7456245"/>
            <a:ext cx="3455332" cy="112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15963" indent="-373063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tabLst/>
              <a:defRPr sz="18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de-DE" sz="2600" b="1" dirty="0">
                <a:solidFill>
                  <a:srgbClr val="0391A3"/>
                </a:solidFill>
              </a:rPr>
              <a:t>UCB </a:t>
            </a:r>
            <a:r>
              <a:rPr lang="de-DE" sz="2600" b="1" dirty="0" err="1">
                <a:solidFill>
                  <a:srgbClr val="0391A3"/>
                </a:solidFill>
              </a:rPr>
              <a:t>sampling</a:t>
            </a:r>
            <a:endParaRPr lang="de-DE" sz="2600" b="1" dirty="0">
              <a:solidFill>
                <a:srgbClr val="0391A3"/>
              </a:solidFill>
            </a:endParaRPr>
          </a:p>
          <a:p>
            <a:pPr>
              <a:spcBef>
                <a:spcPts val="0"/>
              </a:spcBef>
            </a:pPr>
            <a:r>
              <a:rPr lang="en-GB" sz="2600" dirty="0"/>
              <a:t>higher </a:t>
            </a:r>
            <a:r>
              <a:rPr lang="el-GR" sz="2600" dirty="0"/>
              <a:t>β</a:t>
            </a:r>
            <a:r>
              <a:rPr lang="de-DE" sz="2600" dirty="0"/>
              <a:t> = </a:t>
            </a:r>
            <a:r>
              <a:rPr lang="de-DE" sz="2600" dirty="0" err="1"/>
              <a:t>more</a:t>
            </a:r>
            <a:r>
              <a:rPr lang="de-DE" sz="2600" dirty="0"/>
              <a:t> </a:t>
            </a:r>
            <a:r>
              <a:rPr lang="de-DE" sz="2600" dirty="0" err="1"/>
              <a:t>directed</a:t>
            </a:r>
            <a:r>
              <a:rPr lang="de-DE" sz="2600" dirty="0"/>
              <a:t> </a:t>
            </a:r>
            <a:r>
              <a:rPr lang="de-DE" sz="2600" dirty="0" err="1"/>
              <a:t>exploration</a:t>
            </a:r>
            <a:r>
              <a:rPr lang="en-GB" sz="2600" dirty="0"/>
              <a:t> </a:t>
            </a:r>
            <a:endParaRPr lang="en-US" sz="2600" dirty="0"/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D14ACC8A-6FE0-F166-9706-E3E692570982}"/>
              </a:ext>
            </a:extLst>
          </p:cNvPr>
          <p:cNvSpPr txBox="1">
            <a:spLocks/>
          </p:cNvSpPr>
          <p:nvPr/>
        </p:nvSpPr>
        <p:spPr>
          <a:xfrm>
            <a:off x="9588298" y="6875671"/>
            <a:ext cx="4028490" cy="112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15963" indent="-373063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tabLst/>
              <a:defRPr sz="18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de-DE" sz="2600" b="1" dirty="0" err="1">
                <a:solidFill>
                  <a:srgbClr val="0391A3"/>
                </a:solidFill>
              </a:rPr>
              <a:t>Softmax</a:t>
            </a:r>
            <a:r>
              <a:rPr lang="de-DE" sz="2600" b="1" dirty="0">
                <a:solidFill>
                  <a:srgbClr val="0391A3"/>
                </a:solidFill>
              </a:rPr>
              <a:t> </a:t>
            </a:r>
            <a:r>
              <a:rPr lang="de-DE" sz="2600" b="1" dirty="0" err="1">
                <a:solidFill>
                  <a:srgbClr val="0391A3"/>
                </a:solidFill>
              </a:rPr>
              <a:t>choice</a:t>
            </a:r>
            <a:r>
              <a:rPr lang="de-DE" sz="2600" b="1" dirty="0">
                <a:solidFill>
                  <a:srgbClr val="0391A3"/>
                </a:solidFill>
              </a:rPr>
              <a:t> </a:t>
            </a:r>
            <a:r>
              <a:rPr lang="de-DE" sz="2600" b="1" dirty="0" err="1">
                <a:solidFill>
                  <a:srgbClr val="0391A3"/>
                </a:solidFill>
              </a:rPr>
              <a:t>rule</a:t>
            </a:r>
            <a:endParaRPr lang="de-DE" sz="2600" b="1" dirty="0">
              <a:solidFill>
                <a:srgbClr val="0391A3"/>
              </a:solidFill>
            </a:endParaRPr>
          </a:p>
          <a:p>
            <a:pPr>
              <a:spcBef>
                <a:spcPts val="0"/>
              </a:spcBef>
            </a:pPr>
            <a:r>
              <a:rPr lang="de-DE" sz="2600" dirty="0" err="1"/>
              <a:t>higher</a:t>
            </a:r>
            <a:r>
              <a:rPr lang="de-DE" sz="2600" dirty="0"/>
              <a:t> </a:t>
            </a:r>
            <a:r>
              <a:rPr lang="el-GR" sz="2600" dirty="0"/>
              <a:t>τ</a:t>
            </a:r>
            <a:r>
              <a:rPr lang="de-DE" sz="2600" dirty="0"/>
              <a:t> = </a:t>
            </a:r>
            <a:r>
              <a:rPr lang="de-DE" sz="2600" dirty="0" err="1"/>
              <a:t>more</a:t>
            </a:r>
            <a:r>
              <a:rPr lang="de-DE" sz="2600" dirty="0"/>
              <a:t> </a:t>
            </a:r>
            <a:r>
              <a:rPr lang="de-DE" sz="2600" dirty="0" err="1"/>
              <a:t>random</a:t>
            </a:r>
            <a:r>
              <a:rPr lang="de-DE" sz="2600" dirty="0"/>
              <a:t> </a:t>
            </a:r>
            <a:r>
              <a:rPr lang="de-DE" sz="2600" dirty="0" err="1"/>
              <a:t>exploration</a:t>
            </a:r>
            <a:r>
              <a:rPr lang="en-GB" sz="2600" dirty="0"/>
              <a:t> </a:t>
            </a:r>
            <a:endParaRPr lang="en-US" sz="2600" dirty="0"/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2FB0BC50-C417-F82F-0525-A9B428B21BD0}"/>
              </a:ext>
            </a:extLst>
          </p:cNvPr>
          <p:cNvSpPr txBox="1"/>
          <p:nvPr/>
        </p:nvSpPr>
        <p:spPr>
          <a:xfrm>
            <a:off x="5145845" y="717141"/>
            <a:ext cx="162989" cy="276999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0" rIns="0" bIns="0" rtlCol="0">
            <a:spAutoFit/>
          </a:bodyPr>
          <a:lstStyle/>
          <a:p>
            <a:pPr algn="l"/>
            <a:r>
              <a:rPr lang="el-GR" i="1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μ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62D5806-7274-68B1-5D6B-244D39ACB839}"/>
              </a:ext>
            </a:extLst>
          </p:cNvPr>
          <p:cNvSpPr txBox="1"/>
          <p:nvPr/>
        </p:nvSpPr>
        <p:spPr>
          <a:xfrm>
            <a:off x="8257695" y="717141"/>
            <a:ext cx="13144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l-GR" i="1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σ</a:t>
            </a:r>
            <a:endParaRPr lang="en-US" i="1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7EFC8E9-AED8-2340-C3F9-073EEDF1518C}"/>
              </a:ext>
            </a:extLst>
          </p:cNvPr>
          <p:cNvSpPr txBox="1"/>
          <p:nvPr/>
        </p:nvSpPr>
        <p:spPr>
          <a:xfrm>
            <a:off x="199091" y="101205"/>
            <a:ext cx="186461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Observations (t=8)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44F9FEA-F76D-C596-17BC-1A054775AC41}"/>
              </a:ext>
            </a:extLst>
          </p:cNvPr>
          <p:cNvSpPr txBox="1"/>
          <p:nvPr/>
        </p:nvSpPr>
        <p:spPr>
          <a:xfrm>
            <a:off x="8663055" y="101205"/>
            <a:ext cx="3129383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Upper Confidence Bound (UCB)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7CBEC980-45FA-FFD4-5C53-C9FF1AC5370E}"/>
              </a:ext>
            </a:extLst>
          </p:cNvPr>
          <p:cNvSpPr txBox="1"/>
          <p:nvPr/>
        </p:nvSpPr>
        <p:spPr>
          <a:xfrm>
            <a:off x="2752652" y="101205"/>
            <a:ext cx="1844351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rewards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42ACE3A-8906-973B-59E8-4A6986CFBEE2}"/>
              </a:ext>
            </a:extLst>
          </p:cNvPr>
          <p:cNvSpPr txBox="1"/>
          <p:nvPr/>
        </p:nvSpPr>
        <p:spPr>
          <a:xfrm>
            <a:off x="5916377" y="101205"/>
            <a:ext cx="1236236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B1C0CCE-674D-C10A-D9EE-205931CB3B8D}"/>
              </a:ext>
            </a:extLst>
          </p:cNvPr>
          <p:cNvSpPr txBox="1"/>
          <p:nvPr/>
        </p:nvSpPr>
        <p:spPr>
          <a:xfrm>
            <a:off x="12151301" y="101205"/>
            <a:ext cx="2026004" cy="338554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Softmax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predictions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5A09056-4842-FEBC-7CEC-00DF7C20BB63}"/>
              </a:ext>
            </a:extLst>
          </p:cNvPr>
          <p:cNvSpPr txBox="1"/>
          <p:nvPr/>
        </p:nvSpPr>
        <p:spPr>
          <a:xfrm>
            <a:off x="4597003" y="2811354"/>
            <a:ext cx="1649811" cy="288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Generalization </a:t>
            </a:r>
            <a:r>
              <a:rPr lang="el-GR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λ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310774B-1C12-C858-5CC0-CA62113525FC}"/>
              </a:ext>
            </a:extLst>
          </p:cNvPr>
          <p:cNvSpPr txBox="1"/>
          <p:nvPr/>
        </p:nvSpPr>
        <p:spPr>
          <a:xfrm>
            <a:off x="7653804" y="2811354"/>
            <a:ext cx="2016899" cy="288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Exploration bonus </a:t>
            </a:r>
            <a:r>
              <a:rPr lang="el-GR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β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FC4AAFC5-30BE-1975-A235-CCA654A21B78}"/>
              </a:ext>
            </a:extLst>
          </p:cNvPr>
          <p:cNvSpPr txBox="1"/>
          <p:nvPr/>
        </p:nvSpPr>
        <p:spPr>
          <a:xfrm>
            <a:off x="10648791" y="2811354"/>
            <a:ext cx="2292102" cy="288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Random temperature </a:t>
            </a:r>
            <a:r>
              <a:rPr lang="el-GR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τ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56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158A-A10A-FE0A-083B-AB4E742B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118">
            <a:extLst>
              <a:ext uri="{FF2B5EF4-FFF2-40B4-BE49-F238E27FC236}">
                <a16:creationId xmlns:a16="http://schemas.microsoft.com/office/drawing/2014/main" id="{B427A56D-FF59-8C55-12F4-F412E06CE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54" y="225583"/>
            <a:ext cx="15274985" cy="29843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Equation">
                <a:extLst>
                  <a:ext uri="{FF2B5EF4-FFF2-40B4-BE49-F238E27FC236}">
                    <a16:creationId xmlns:a16="http://schemas.microsoft.com/office/drawing/2014/main" id="{8AF14729-67E8-7915-395E-A3C17311D9CE}"/>
                  </a:ext>
                </a:extLst>
              </p:cNvPr>
              <p:cNvSpPr txBox="1"/>
              <p:nvPr/>
            </p:nvSpPr>
            <p:spPr>
              <a:xfrm>
                <a:off x="8259889" y="6950082"/>
                <a:ext cx="2765116" cy="30777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)∝</m:t>
                      </m:r>
                      <m:r>
                        <m:rPr>
                          <m:sty m:val="p"/>
                        </m:rP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𝑈𝐶𝐵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)/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0" name="Equation">
                <a:extLst>
                  <a:ext uri="{FF2B5EF4-FFF2-40B4-BE49-F238E27FC236}">
                    <a16:creationId xmlns:a16="http://schemas.microsoft.com/office/drawing/2014/main" id="{8C33B5BE-93B6-EE74-FF38-53C76DA0C4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889" y="6950082"/>
                <a:ext cx="2765116" cy="307777"/>
              </a:xfrm>
              <a:prstGeom prst="rect">
                <a:avLst/>
              </a:prstGeom>
              <a:blipFill>
                <a:blip r:embed="rId4"/>
                <a:stretch>
                  <a:fillRect l="-1826" r="-2740" b="-32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Equation">
                <a:extLst>
                  <a:ext uri="{FF2B5EF4-FFF2-40B4-BE49-F238E27FC236}">
                    <a16:creationId xmlns:a16="http://schemas.microsoft.com/office/drawing/2014/main" id="{6F8E15FC-4754-DF0D-AA05-4C89B7C8946A}"/>
                  </a:ext>
                </a:extLst>
              </p:cNvPr>
              <p:cNvSpPr txBox="1"/>
              <p:nvPr/>
            </p:nvSpPr>
            <p:spPr>
              <a:xfrm>
                <a:off x="5106968" y="6950082"/>
                <a:ext cx="2969787" cy="307777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𝑈𝐶𝐵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)+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𝛽𝜎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1" name="Equation">
                <a:extLst>
                  <a:ext uri="{FF2B5EF4-FFF2-40B4-BE49-F238E27FC236}">
                    <a16:creationId xmlns:a16="http://schemas.microsoft.com/office/drawing/2014/main" id="{53E71FA6-7436-D14E-30B7-7EE8E2885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968" y="6950082"/>
                <a:ext cx="2969787" cy="307777"/>
              </a:xfrm>
              <a:prstGeom prst="rect">
                <a:avLst/>
              </a:prstGeom>
              <a:blipFill>
                <a:blip r:embed="rId5"/>
                <a:stretch>
                  <a:fillRect l="-1709" r="-2564" b="-320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Equation">
                <a:extLst>
                  <a:ext uri="{FF2B5EF4-FFF2-40B4-BE49-F238E27FC236}">
                    <a16:creationId xmlns:a16="http://schemas.microsoft.com/office/drawing/2014/main" id="{6126897F-53AA-00C9-7F29-65BD125AE19C}"/>
                  </a:ext>
                </a:extLst>
              </p:cNvPr>
              <p:cNvSpPr txBox="1"/>
              <p:nvPr/>
            </p:nvSpPr>
            <p:spPr>
              <a:xfrm>
                <a:off x="704429" y="6742703"/>
                <a:ext cx="3647922" cy="69769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𝑅𝐵𝐹</m:t>
                          </m:r>
                        </m:sub>
                      </m:sSub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  <m:sup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sty m:val="p"/>
                        </m:rPr>
                        <a:rPr sz="2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d>
                        <m:dPr>
                          <m:ctrlP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sz="2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p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p>
                                <m:sSupPr>
                                  <m:ctrlP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</m:e>
                                <m:sup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sz="20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p>
                                <m:sSupPr>
                                  <m:ctrlP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sz="20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d>
                    </m:oMath>
                  </m:oMathPara>
                </a14:m>
                <a:endParaRPr sz="2000" dirty="0"/>
              </a:p>
            </p:txBody>
          </p:sp>
        </mc:Choice>
        <mc:Fallback xmlns="">
          <p:sp>
            <p:nvSpPr>
              <p:cNvPr id="122" name="Equation">
                <a:extLst>
                  <a:ext uri="{FF2B5EF4-FFF2-40B4-BE49-F238E27FC236}">
                    <a16:creationId xmlns:a16="http://schemas.microsoft.com/office/drawing/2014/main" id="{8C2214F3-2BA3-D311-FF4E-A78D60040F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429" y="6742703"/>
                <a:ext cx="3647922" cy="697692"/>
              </a:xfrm>
              <a:prstGeom prst="rect">
                <a:avLst/>
              </a:prstGeom>
              <a:blipFill>
                <a:blip r:embed="rId6"/>
                <a:stretch>
                  <a:fillRect l="-138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Content Placeholder 2">
            <a:extLst>
              <a:ext uri="{FF2B5EF4-FFF2-40B4-BE49-F238E27FC236}">
                <a16:creationId xmlns:a16="http://schemas.microsoft.com/office/drawing/2014/main" id="{FCFFC8D5-FFB4-BE71-EC88-5B15C6957A0A}"/>
              </a:ext>
            </a:extLst>
          </p:cNvPr>
          <p:cNvSpPr txBox="1">
            <a:spLocks/>
          </p:cNvSpPr>
          <p:nvPr/>
        </p:nvSpPr>
        <p:spPr>
          <a:xfrm>
            <a:off x="778601" y="7438382"/>
            <a:ext cx="4028490" cy="112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15963" indent="-373063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tabLst/>
              <a:defRPr sz="18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de-DE" sz="2600" b="1" dirty="0" err="1">
                <a:solidFill>
                  <a:srgbClr val="0391A3"/>
                </a:solidFill>
              </a:rPr>
              <a:t>Generalization</a:t>
            </a:r>
            <a:endParaRPr lang="de-DE" sz="2600" b="1" dirty="0">
              <a:solidFill>
                <a:srgbClr val="0391A3"/>
              </a:solidFill>
            </a:endParaRPr>
          </a:p>
          <a:p>
            <a:pPr>
              <a:spcBef>
                <a:spcPts val="0"/>
              </a:spcBef>
            </a:pPr>
            <a:r>
              <a:rPr lang="en-GB" sz="2600" dirty="0"/>
              <a:t>higher </a:t>
            </a:r>
            <a:r>
              <a:rPr lang="el-GR" sz="2600" dirty="0"/>
              <a:t>λ</a:t>
            </a:r>
            <a:r>
              <a:rPr lang="de-DE" sz="2600" dirty="0"/>
              <a:t> = smoother, </a:t>
            </a:r>
            <a:r>
              <a:rPr lang="de-DE" sz="2600" dirty="0" err="1"/>
              <a:t>higher</a:t>
            </a:r>
            <a:r>
              <a:rPr lang="de-DE" sz="2600" dirty="0"/>
              <a:t> </a:t>
            </a:r>
            <a:r>
              <a:rPr lang="de-DE" sz="2600" dirty="0" err="1"/>
              <a:t>correlation</a:t>
            </a:r>
            <a:r>
              <a:rPr lang="en-GB" sz="2600" dirty="0"/>
              <a:t> </a:t>
            </a:r>
            <a:endParaRPr lang="en-US" sz="2600" dirty="0"/>
          </a:p>
        </p:txBody>
      </p:sp>
      <p:sp>
        <p:nvSpPr>
          <p:cNvPr id="124" name="Content Placeholder 2">
            <a:extLst>
              <a:ext uri="{FF2B5EF4-FFF2-40B4-BE49-F238E27FC236}">
                <a16:creationId xmlns:a16="http://schemas.microsoft.com/office/drawing/2014/main" id="{FCD9708A-783C-7047-5B8C-E30F6D1FA726}"/>
              </a:ext>
            </a:extLst>
          </p:cNvPr>
          <p:cNvSpPr txBox="1">
            <a:spLocks/>
          </p:cNvSpPr>
          <p:nvPr/>
        </p:nvSpPr>
        <p:spPr>
          <a:xfrm>
            <a:off x="4991056" y="7456245"/>
            <a:ext cx="3455332" cy="112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15963" indent="-373063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tabLst/>
              <a:defRPr sz="18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de-DE" sz="2600" b="1" dirty="0">
                <a:solidFill>
                  <a:srgbClr val="0391A3"/>
                </a:solidFill>
              </a:rPr>
              <a:t>UCB </a:t>
            </a:r>
            <a:r>
              <a:rPr lang="de-DE" sz="2600" b="1" dirty="0" err="1">
                <a:solidFill>
                  <a:srgbClr val="0391A3"/>
                </a:solidFill>
              </a:rPr>
              <a:t>sampling</a:t>
            </a:r>
            <a:endParaRPr lang="de-DE" sz="2600" b="1" dirty="0">
              <a:solidFill>
                <a:srgbClr val="0391A3"/>
              </a:solidFill>
            </a:endParaRPr>
          </a:p>
          <a:p>
            <a:pPr>
              <a:spcBef>
                <a:spcPts val="0"/>
              </a:spcBef>
            </a:pPr>
            <a:r>
              <a:rPr lang="en-GB" sz="2600" dirty="0"/>
              <a:t>higher </a:t>
            </a:r>
            <a:r>
              <a:rPr lang="el-GR" sz="2600" dirty="0"/>
              <a:t>β</a:t>
            </a:r>
            <a:r>
              <a:rPr lang="de-DE" sz="2600" dirty="0"/>
              <a:t> = </a:t>
            </a:r>
            <a:r>
              <a:rPr lang="de-DE" sz="2600" dirty="0" err="1"/>
              <a:t>more</a:t>
            </a:r>
            <a:r>
              <a:rPr lang="de-DE" sz="2600" dirty="0"/>
              <a:t> </a:t>
            </a:r>
            <a:r>
              <a:rPr lang="de-DE" sz="2600" dirty="0" err="1"/>
              <a:t>directed</a:t>
            </a:r>
            <a:r>
              <a:rPr lang="de-DE" sz="2600" dirty="0"/>
              <a:t> </a:t>
            </a:r>
            <a:r>
              <a:rPr lang="de-DE" sz="2600" dirty="0" err="1"/>
              <a:t>exploration</a:t>
            </a:r>
            <a:r>
              <a:rPr lang="en-GB" sz="2600" dirty="0"/>
              <a:t> </a:t>
            </a:r>
            <a:endParaRPr lang="en-US" sz="2600" dirty="0"/>
          </a:p>
        </p:txBody>
      </p:sp>
      <p:sp>
        <p:nvSpPr>
          <p:cNvPr id="125" name="Content Placeholder 2">
            <a:extLst>
              <a:ext uri="{FF2B5EF4-FFF2-40B4-BE49-F238E27FC236}">
                <a16:creationId xmlns:a16="http://schemas.microsoft.com/office/drawing/2014/main" id="{0D4F596C-D575-D0CF-4F28-49310B854EF8}"/>
              </a:ext>
            </a:extLst>
          </p:cNvPr>
          <p:cNvSpPr txBox="1">
            <a:spLocks/>
          </p:cNvSpPr>
          <p:nvPr/>
        </p:nvSpPr>
        <p:spPr>
          <a:xfrm>
            <a:off x="9588298" y="6875671"/>
            <a:ext cx="4028490" cy="11254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buFont typeface="Wingdings" charset="2"/>
              <a:buNone/>
              <a:defRPr sz="22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1pPr>
            <a:lvl2pPr marL="715963" indent="-373063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tabLst/>
              <a:defRPr sz="18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b="0" i="0" kern="1200">
                <a:solidFill>
                  <a:schemeClr val="tx1"/>
                </a:solidFill>
                <a:latin typeface="Helvetica Neue Light"/>
                <a:ea typeface="+mn-ea"/>
                <a:cs typeface="Helvetica Neue Light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de-DE" sz="2600" b="1" dirty="0" err="1">
                <a:solidFill>
                  <a:srgbClr val="0391A3"/>
                </a:solidFill>
              </a:rPr>
              <a:t>Softmax</a:t>
            </a:r>
            <a:r>
              <a:rPr lang="de-DE" sz="2600" b="1" dirty="0">
                <a:solidFill>
                  <a:srgbClr val="0391A3"/>
                </a:solidFill>
              </a:rPr>
              <a:t> </a:t>
            </a:r>
            <a:r>
              <a:rPr lang="de-DE" sz="2600" b="1" dirty="0" err="1">
                <a:solidFill>
                  <a:srgbClr val="0391A3"/>
                </a:solidFill>
              </a:rPr>
              <a:t>choice</a:t>
            </a:r>
            <a:r>
              <a:rPr lang="de-DE" sz="2600" b="1" dirty="0">
                <a:solidFill>
                  <a:srgbClr val="0391A3"/>
                </a:solidFill>
              </a:rPr>
              <a:t> </a:t>
            </a:r>
            <a:r>
              <a:rPr lang="de-DE" sz="2600" b="1" dirty="0" err="1">
                <a:solidFill>
                  <a:srgbClr val="0391A3"/>
                </a:solidFill>
              </a:rPr>
              <a:t>rule</a:t>
            </a:r>
            <a:endParaRPr lang="de-DE" sz="2600" b="1" dirty="0">
              <a:solidFill>
                <a:srgbClr val="0391A3"/>
              </a:solidFill>
            </a:endParaRPr>
          </a:p>
          <a:p>
            <a:pPr>
              <a:spcBef>
                <a:spcPts val="0"/>
              </a:spcBef>
            </a:pPr>
            <a:r>
              <a:rPr lang="de-DE" sz="2600" dirty="0" err="1"/>
              <a:t>higher</a:t>
            </a:r>
            <a:r>
              <a:rPr lang="de-DE" sz="2600" dirty="0"/>
              <a:t> </a:t>
            </a:r>
            <a:r>
              <a:rPr lang="el-GR" sz="2600" dirty="0"/>
              <a:t>τ</a:t>
            </a:r>
            <a:r>
              <a:rPr lang="de-DE" sz="2600" dirty="0"/>
              <a:t> = </a:t>
            </a:r>
            <a:r>
              <a:rPr lang="de-DE" sz="2600" dirty="0" err="1"/>
              <a:t>more</a:t>
            </a:r>
            <a:r>
              <a:rPr lang="de-DE" sz="2600" dirty="0"/>
              <a:t> </a:t>
            </a:r>
            <a:r>
              <a:rPr lang="de-DE" sz="2600" dirty="0" err="1"/>
              <a:t>random</a:t>
            </a:r>
            <a:r>
              <a:rPr lang="de-DE" sz="2600" dirty="0"/>
              <a:t> </a:t>
            </a:r>
            <a:r>
              <a:rPr lang="de-DE" sz="2600" dirty="0" err="1"/>
              <a:t>exploration</a:t>
            </a:r>
            <a:r>
              <a:rPr lang="en-GB" sz="2600" dirty="0"/>
              <a:t> </a:t>
            </a:r>
            <a:endParaRPr lang="en-US" sz="2600" dirty="0"/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4BFB5192-6DDE-2644-EB60-3F8655EC779D}"/>
              </a:ext>
            </a:extLst>
          </p:cNvPr>
          <p:cNvSpPr txBox="1"/>
          <p:nvPr/>
        </p:nvSpPr>
        <p:spPr>
          <a:xfrm>
            <a:off x="163466" y="109156"/>
            <a:ext cx="1864613" cy="324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Observations (t=8)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47A3F61F-CC7F-4842-5562-D96851CD91A3}"/>
              </a:ext>
            </a:extLst>
          </p:cNvPr>
          <p:cNvSpPr txBox="1"/>
          <p:nvPr/>
        </p:nvSpPr>
        <p:spPr>
          <a:xfrm>
            <a:off x="8948062" y="109156"/>
            <a:ext cx="3129383" cy="324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Upper Confidence Bound (UCB)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0F20D44-CAC9-5025-98A3-1DFC0D55FA7A}"/>
              </a:ext>
            </a:extLst>
          </p:cNvPr>
          <p:cNvSpPr txBox="1"/>
          <p:nvPr/>
        </p:nvSpPr>
        <p:spPr>
          <a:xfrm>
            <a:off x="2681402" y="109156"/>
            <a:ext cx="1844351" cy="324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Expected rewards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8A29EEA5-98EC-C524-B8BB-20B5181B7628}"/>
              </a:ext>
            </a:extLst>
          </p:cNvPr>
          <p:cNvSpPr txBox="1"/>
          <p:nvPr/>
        </p:nvSpPr>
        <p:spPr>
          <a:xfrm>
            <a:off x="5821377" y="109156"/>
            <a:ext cx="1236236" cy="324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Uncertainty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36EC54B-FF28-75A0-A22C-6DC0080B463B}"/>
              </a:ext>
            </a:extLst>
          </p:cNvPr>
          <p:cNvSpPr txBox="1"/>
          <p:nvPr/>
        </p:nvSpPr>
        <p:spPr>
          <a:xfrm>
            <a:off x="12115676" y="109156"/>
            <a:ext cx="2026004" cy="324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Softmax</a:t>
            </a:r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predictions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F60EC18-EBEC-BE0E-F3E0-CE017D1D1F65}"/>
              </a:ext>
            </a:extLst>
          </p:cNvPr>
          <p:cNvSpPr txBox="1"/>
          <p:nvPr/>
        </p:nvSpPr>
        <p:spPr>
          <a:xfrm>
            <a:off x="4597003" y="2811354"/>
            <a:ext cx="1649811" cy="288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Generalization </a:t>
            </a:r>
            <a:r>
              <a:rPr lang="el-GR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λ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F7199D9-930E-BB5A-1D09-AD0E060B8C30}"/>
              </a:ext>
            </a:extLst>
          </p:cNvPr>
          <p:cNvSpPr txBox="1"/>
          <p:nvPr/>
        </p:nvSpPr>
        <p:spPr>
          <a:xfrm>
            <a:off x="7653804" y="2811354"/>
            <a:ext cx="2016899" cy="288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Exploration bonus </a:t>
            </a:r>
            <a:r>
              <a:rPr lang="el-GR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β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F92ACD2-B849-CC7C-3AB6-23ADA5C8FCCC}"/>
              </a:ext>
            </a:extLst>
          </p:cNvPr>
          <p:cNvSpPr txBox="1"/>
          <p:nvPr/>
        </p:nvSpPr>
        <p:spPr>
          <a:xfrm>
            <a:off x="10648791" y="2811354"/>
            <a:ext cx="2292102" cy="28800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Random temperature </a:t>
            </a:r>
            <a:r>
              <a:rPr lang="el-GR" sz="1600" dirty="0">
                <a:latin typeface="Cambria Math" panose="02040503050406030204" pitchFamily="18" charset="0"/>
                <a:ea typeface="Cambria Math" panose="02040503050406030204" pitchFamily="18" charset="0"/>
                <a:cs typeface="Helvetica Neue" panose="02000503000000020004" pitchFamily="2" charset="0"/>
              </a:rPr>
              <a:t>τ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  <a:cs typeface="Helvetica Neue" panose="02000503000000020004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F09782-66BA-6EC5-FD66-8CCC79071751}"/>
                  </a:ext>
                </a:extLst>
              </p:cNvPr>
              <p:cNvSpPr txBox="1"/>
              <p:nvPr/>
            </p:nvSpPr>
            <p:spPr>
              <a:xfrm>
                <a:off x="5115709" y="686620"/>
                <a:ext cx="756000" cy="288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DF09782-66BA-6EC5-FD66-8CCC79071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5709" y="686620"/>
                <a:ext cx="756000" cy="288000"/>
              </a:xfrm>
              <a:prstGeom prst="rect">
                <a:avLst/>
              </a:prstGeom>
              <a:blipFill>
                <a:blip r:embed="rId7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0AAB02-2D41-7FEF-3EE1-516B6A2DB5FE}"/>
                  </a:ext>
                </a:extLst>
              </p:cNvPr>
              <p:cNvSpPr txBox="1"/>
              <p:nvPr/>
            </p:nvSpPr>
            <p:spPr>
              <a:xfrm>
                <a:off x="8259889" y="686620"/>
                <a:ext cx="756000" cy="28800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de-DE" sz="1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𝒙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|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𝐷</m:t>
                      </m:r>
                      <m:r>
                        <a:rPr lang="de-DE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30AAB02-2D41-7FEF-3EE1-516B6A2DB5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889" y="686620"/>
                <a:ext cx="756000" cy="288000"/>
              </a:xfrm>
              <a:prstGeom prst="rect">
                <a:avLst/>
              </a:prstGeom>
              <a:blipFill>
                <a:blip r:embed="rId8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2781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</TotalTime>
  <Words>182</Words>
  <Application>Microsoft Macintosh PowerPoint</Application>
  <PresentationFormat>Custom</PresentationFormat>
  <Paragraphs>40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Cambria Math</vt:lpstr>
      <vt:lpstr>Helvetica Neue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BM</dc:creator>
  <cp:lastModifiedBy>BM</cp:lastModifiedBy>
  <cp:revision>2</cp:revision>
  <dcterms:created xsi:type="dcterms:W3CDTF">2025-07-25T13:56:53Z</dcterms:created>
  <dcterms:modified xsi:type="dcterms:W3CDTF">2025-08-22T16:08:18Z</dcterms:modified>
</cp:coreProperties>
</file>