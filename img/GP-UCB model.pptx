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4" r:id="rId1"/>
  </p:sldMasterIdLst>
  <p:notesMasterIdLst>
    <p:notesMasterId r:id="rId3"/>
  </p:notesMasterIdLst>
  <p:sldIdLst>
    <p:sldId id="256" r:id="rId2"/>
  </p:sldIdLst>
  <p:sldSz cx="15479713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6DB251-B019-B140-911A-1EC5DBCE2547}" v="27" dt="2025-07-31T17:52:46.4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0"/>
    <p:restoredTop sz="94669"/>
  </p:normalViewPr>
  <p:slideViewPr>
    <p:cSldViewPr snapToGrid="0">
      <p:cViewPr>
        <p:scale>
          <a:sx n="213" d="100"/>
          <a:sy n="213" d="100"/>
        </p:scale>
        <p:origin x="-3496" y="2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C99F2B-1E7B-6B45-A3DF-F4C0CAAC18D2}" type="datetimeFigureOut">
              <a:rPr lang="en-US" smtClean="0"/>
              <a:t>7/31/25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3943350" y="1143000"/>
            <a:ext cx="14744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CA27ED-346A-4D4F-AD1E-98498D6848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35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1pPr>
    <a:lvl2pPr marL="440558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2pPr>
    <a:lvl3pPr marL="881116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3pPr>
    <a:lvl4pPr marL="1321674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4pPr>
    <a:lvl5pPr marL="1762232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5pPr>
    <a:lvl6pPr marL="2202790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6pPr>
    <a:lvl7pPr marL="2643348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7pPr>
    <a:lvl8pPr marL="3083905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8pPr>
    <a:lvl9pPr marL="3524463" algn="l" defTabSz="881116" rtl="0" eaLnBrk="1" latinLnBrk="0" hangingPunct="1">
      <a:defRPr sz="115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3943350" y="1143000"/>
            <a:ext cx="147447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CA27ED-346A-4D4F-AD1E-98498D6848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407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34964" y="530264"/>
            <a:ext cx="11609785" cy="1128031"/>
          </a:xfrm>
        </p:spPr>
        <p:txBody>
          <a:bodyPr anchor="b"/>
          <a:lstStyle>
            <a:lvl1pPr algn="ctr">
              <a:defRPr sz="283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34964" y="1701796"/>
            <a:ext cx="11609785" cy="782271"/>
          </a:xfrm>
        </p:spPr>
        <p:txBody>
          <a:bodyPr/>
          <a:lstStyle>
            <a:lvl1pPr marL="0" indent="0" algn="ctr">
              <a:buNone/>
              <a:defRPr sz="1134"/>
            </a:lvl1pPr>
            <a:lvl2pPr marL="216027" indent="0" algn="ctr">
              <a:buNone/>
              <a:defRPr sz="945"/>
            </a:lvl2pPr>
            <a:lvl3pPr marL="432054" indent="0" algn="ctr">
              <a:buNone/>
              <a:defRPr sz="851"/>
            </a:lvl3pPr>
            <a:lvl4pPr marL="648081" indent="0" algn="ctr">
              <a:buNone/>
              <a:defRPr sz="756"/>
            </a:lvl4pPr>
            <a:lvl5pPr marL="864108" indent="0" algn="ctr">
              <a:buNone/>
              <a:defRPr sz="756"/>
            </a:lvl5pPr>
            <a:lvl6pPr marL="1080135" indent="0" algn="ctr">
              <a:buNone/>
              <a:defRPr sz="756"/>
            </a:lvl6pPr>
            <a:lvl7pPr marL="1296162" indent="0" algn="ctr">
              <a:buNone/>
              <a:defRPr sz="756"/>
            </a:lvl7pPr>
            <a:lvl8pPr marL="1512189" indent="0" algn="ctr">
              <a:buNone/>
              <a:defRPr sz="756"/>
            </a:lvl8pPr>
            <a:lvl9pPr marL="1728216" indent="0" algn="ctr">
              <a:buNone/>
              <a:defRPr sz="756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70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044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6168" y="807773"/>
            <a:ext cx="13351252" cy="1347786"/>
          </a:xfrm>
        </p:spPr>
        <p:txBody>
          <a:bodyPr anchor="b"/>
          <a:lstStyle>
            <a:lvl1pPr>
              <a:defRPr sz="283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6168" y="2168309"/>
            <a:ext cx="13351252" cy="708769"/>
          </a:xfrm>
        </p:spPr>
        <p:txBody>
          <a:bodyPr/>
          <a:lstStyle>
            <a:lvl1pPr marL="0" indent="0">
              <a:buNone/>
              <a:defRPr sz="1134">
                <a:solidFill>
                  <a:schemeClr val="tx1">
                    <a:tint val="82000"/>
                  </a:schemeClr>
                </a:solidFill>
              </a:defRPr>
            </a:lvl1pPr>
            <a:lvl2pPr marL="216027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2pPr>
            <a:lvl3pPr marL="432054" indent="0">
              <a:buNone/>
              <a:defRPr sz="851">
                <a:solidFill>
                  <a:schemeClr val="tx1">
                    <a:tint val="82000"/>
                  </a:schemeClr>
                </a:solidFill>
              </a:defRPr>
            </a:lvl3pPr>
            <a:lvl4pPr marL="648081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4pPr>
            <a:lvl5pPr marL="864108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5pPr>
            <a:lvl6pPr marL="1080135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6pPr>
            <a:lvl7pPr marL="1296162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7pPr>
            <a:lvl8pPr marL="1512189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8pPr>
            <a:lvl9pPr marL="1728216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16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4230" y="862523"/>
            <a:ext cx="6578878" cy="205580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36605" y="862523"/>
            <a:ext cx="6578878" cy="205580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840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247" y="172505"/>
            <a:ext cx="13351252" cy="62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247" y="794272"/>
            <a:ext cx="6548644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6247" y="1183532"/>
            <a:ext cx="6548644" cy="17407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36605" y="794272"/>
            <a:ext cx="6580894" cy="389260"/>
          </a:xfrm>
        </p:spPr>
        <p:txBody>
          <a:bodyPr anchor="b"/>
          <a:lstStyle>
            <a:lvl1pPr marL="0" indent="0">
              <a:buNone/>
              <a:defRPr sz="1134" b="1"/>
            </a:lvl1pPr>
            <a:lvl2pPr marL="216027" indent="0">
              <a:buNone/>
              <a:defRPr sz="945" b="1"/>
            </a:lvl2pPr>
            <a:lvl3pPr marL="432054" indent="0">
              <a:buNone/>
              <a:defRPr sz="851" b="1"/>
            </a:lvl3pPr>
            <a:lvl4pPr marL="648081" indent="0">
              <a:buNone/>
              <a:defRPr sz="756" b="1"/>
            </a:lvl4pPr>
            <a:lvl5pPr marL="864108" indent="0">
              <a:buNone/>
              <a:defRPr sz="756" b="1"/>
            </a:lvl5pPr>
            <a:lvl6pPr marL="1080135" indent="0">
              <a:buNone/>
              <a:defRPr sz="756" b="1"/>
            </a:lvl6pPr>
            <a:lvl7pPr marL="1296162" indent="0">
              <a:buNone/>
              <a:defRPr sz="756" b="1"/>
            </a:lvl7pPr>
            <a:lvl8pPr marL="1512189" indent="0">
              <a:buNone/>
              <a:defRPr sz="756" b="1"/>
            </a:lvl8pPr>
            <a:lvl9pPr marL="1728216" indent="0">
              <a:buNone/>
              <a:defRPr sz="756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36605" y="1183532"/>
            <a:ext cx="6580894" cy="17407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459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5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155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247" y="216006"/>
            <a:ext cx="4992610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0894" y="466513"/>
            <a:ext cx="7836605" cy="2302563"/>
          </a:xfrm>
        </p:spPr>
        <p:txBody>
          <a:bodyPr/>
          <a:lstStyle>
            <a:lvl1pPr>
              <a:defRPr sz="1512"/>
            </a:lvl1pPr>
            <a:lvl2pPr>
              <a:defRPr sz="1323"/>
            </a:lvl2pPr>
            <a:lvl3pPr>
              <a:defRPr sz="1134"/>
            </a:lvl3pPr>
            <a:lvl4pPr>
              <a:defRPr sz="945"/>
            </a:lvl4pPr>
            <a:lvl5pPr>
              <a:defRPr sz="945"/>
            </a:lvl5pPr>
            <a:lvl6pPr>
              <a:defRPr sz="945"/>
            </a:lvl6pPr>
            <a:lvl7pPr>
              <a:defRPr sz="945"/>
            </a:lvl7pPr>
            <a:lvl8pPr>
              <a:defRPr sz="945"/>
            </a:lvl8pPr>
            <a:lvl9pPr>
              <a:defRPr sz="94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6247" y="972026"/>
            <a:ext cx="4992610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03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247" y="216006"/>
            <a:ext cx="4992610" cy="756021"/>
          </a:xfrm>
        </p:spPr>
        <p:txBody>
          <a:bodyPr anchor="b"/>
          <a:lstStyle>
            <a:lvl1pPr>
              <a:defRPr sz="151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80894" y="466513"/>
            <a:ext cx="7836605" cy="2302563"/>
          </a:xfrm>
        </p:spPr>
        <p:txBody>
          <a:bodyPr anchor="t"/>
          <a:lstStyle>
            <a:lvl1pPr marL="0" indent="0">
              <a:buNone/>
              <a:defRPr sz="1512"/>
            </a:lvl1pPr>
            <a:lvl2pPr marL="216027" indent="0">
              <a:buNone/>
              <a:defRPr sz="1323"/>
            </a:lvl2pPr>
            <a:lvl3pPr marL="432054" indent="0">
              <a:buNone/>
              <a:defRPr sz="1134"/>
            </a:lvl3pPr>
            <a:lvl4pPr marL="648081" indent="0">
              <a:buNone/>
              <a:defRPr sz="945"/>
            </a:lvl4pPr>
            <a:lvl5pPr marL="864108" indent="0">
              <a:buNone/>
              <a:defRPr sz="945"/>
            </a:lvl5pPr>
            <a:lvl6pPr marL="1080135" indent="0">
              <a:buNone/>
              <a:defRPr sz="945"/>
            </a:lvl6pPr>
            <a:lvl7pPr marL="1296162" indent="0">
              <a:buNone/>
              <a:defRPr sz="945"/>
            </a:lvl7pPr>
            <a:lvl8pPr marL="1512189" indent="0">
              <a:buNone/>
              <a:defRPr sz="945"/>
            </a:lvl8pPr>
            <a:lvl9pPr marL="1728216" indent="0">
              <a:buNone/>
              <a:defRPr sz="94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66247" y="972026"/>
            <a:ext cx="4992610" cy="1800799"/>
          </a:xfrm>
        </p:spPr>
        <p:txBody>
          <a:bodyPr/>
          <a:lstStyle>
            <a:lvl1pPr marL="0" indent="0">
              <a:buNone/>
              <a:defRPr sz="756"/>
            </a:lvl1pPr>
            <a:lvl2pPr marL="216027" indent="0">
              <a:buNone/>
              <a:defRPr sz="662"/>
            </a:lvl2pPr>
            <a:lvl3pPr marL="432054" indent="0">
              <a:buNone/>
              <a:defRPr sz="567"/>
            </a:lvl3pPr>
            <a:lvl4pPr marL="648081" indent="0">
              <a:buNone/>
              <a:defRPr sz="472"/>
            </a:lvl4pPr>
            <a:lvl5pPr marL="864108" indent="0">
              <a:buNone/>
              <a:defRPr sz="472"/>
            </a:lvl5pPr>
            <a:lvl6pPr marL="1080135" indent="0">
              <a:buNone/>
              <a:defRPr sz="472"/>
            </a:lvl6pPr>
            <a:lvl7pPr marL="1296162" indent="0">
              <a:buNone/>
              <a:defRPr sz="472"/>
            </a:lvl7pPr>
            <a:lvl8pPr marL="1512189" indent="0">
              <a:buNone/>
              <a:defRPr sz="472"/>
            </a:lvl8pPr>
            <a:lvl9pPr marL="1728216" indent="0">
              <a:buNone/>
              <a:defRPr sz="47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562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3070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077670" y="172505"/>
            <a:ext cx="3337813" cy="27458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4230" y="172505"/>
            <a:ext cx="9819943" cy="27458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042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4231" y="172505"/>
            <a:ext cx="13351252" cy="626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4231" y="862523"/>
            <a:ext cx="13351252" cy="2055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4230" y="3003082"/>
            <a:ext cx="348293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5FBF7-6189-C04A-8896-44241FF05286}" type="datetimeFigureOut">
              <a:rPr lang="en-US" smtClean="0"/>
              <a:t>7/31/25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27655" y="3003082"/>
            <a:ext cx="5224403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32548" y="3003082"/>
            <a:ext cx="3482935" cy="1725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7E45E7-90D6-4A4C-B8E7-5AC99C15C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56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432054" rtl="0" eaLnBrk="1" latinLnBrk="0" hangingPunct="1">
        <a:lnSpc>
          <a:spcPct val="90000"/>
        </a:lnSpc>
        <a:spcBef>
          <a:spcPct val="0"/>
        </a:spcBef>
        <a:buNone/>
        <a:defRPr sz="207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8014" indent="-108014" algn="l" defTabSz="432054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323" kern="1200">
          <a:solidFill>
            <a:schemeClr val="tx1"/>
          </a:solidFill>
          <a:latin typeface="+mn-lt"/>
          <a:ea typeface="+mn-ea"/>
          <a:cs typeface="+mn-cs"/>
        </a:defRPr>
      </a:lvl1pPr>
      <a:lvl2pPr marL="324041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40068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56095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972122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188149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404176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620203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836230" indent="-108014" algn="l" defTabSz="432054" rtl="0" eaLnBrk="1" latinLnBrk="0" hangingPunct="1">
        <a:lnSpc>
          <a:spcPct val="90000"/>
        </a:lnSpc>
        <a:spcBef>
          <a:spcPts val="236"/>
        </a:spcBef>
        <a:buFont typeface="Arial" panose="020B0604020202020204" pitchFamily="34" charset="0"/>
        <a:buChar char="•"/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1pPr>
      <a:lvl2pPr marL="216027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2pPr>
      <a:lvl3pPr marL="432054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3pPr>
      <a:lvl4pPr marL="648081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5pPr>
      <a:lvl6pPr marL="1080135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6pPr>
      <a:lvl7pPr marL="1296162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7pPr>
      <a:lvl8pPr marL="1512189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8pPr>
      <a:lvl9pPr marL="1728216" algn="l" defTabSz="432054" rtl="0" eaLnBrk="1" latinLnBrk="0" hangingPunct="1">
        <a:defRPr sz="8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>
            <a:extLst>
              <a:ext uri="{FF2B5EF4-FFF2-40B4-BE49-F238E27FC236}">
                <a16:creationId xmlns:a16="http://schemas.microsoft.com/office/drawing/2014/main" id="{FC81F154-71FF-9EFA-836B-D8B5D29A7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54" y="225583"/>
            <a:ext cx="15274985" cy="298436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Equation">
                <a:extLst>
                  <a:ext uri="{FF2B5EF4-FFF2-40B4-BE49-F238E27FC236}">
                    <a16:creationId xmlns:a16="http://schemas.microsoft.com/office/drawing/2014/main" id="{8C33B5BE-93B6-EE74-FF38-53C76DA0C468}"/>
                  </a:ext>
                </a:extLst>
              </p:cNvPr>
              <p:cNvSpPr txBox="1"/>
              <p:nvPr/>
            </p:nvSpPr>
            <p:spPr>
              <a:xfrm>
                <a:off x="8259889" y="6950082"/>
                <a:ext cx="2765116" cy="30777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 sz="18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)∝</m:t>
                      </m:r>
                      <m:r>
                        <m:rPr>
                          <m:sty m:val="p"/>
                        </m:rP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𝑈𝐶𝐵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)/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120" name="Equation">
                <a:extLst>
                  <a:ext uri="{FF2B5EF4-FFF2-40B4-BE49-F238E27FC236}">
                    <a16:creationId xmlns:a16="http://schemas.microsoft.com/office/drawing/2014/main" id="{8C33B5BE-93B6-EE74-FF38-53C76DA0C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889" y="6950082"/>
                <a:ext cx="2765116" cy="307777"/>
              </a:xfrm>
              <a:prstGeom prst="rect">
                <a:avLst/>
              </a:prstGeom>
              <a:blipFill>
                <a:blip r:embed="rId4"/>
                <a:stretch>
                  <a:fillRect l="-1826" r="-2740" b="-32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Equation">
                <a:extLst>
                  <a:ext uri="{FF2B5EF4-FFF2-40B4-BE49-F238E27FC236}">
                    <a16:creationId xmlns:a16="http://schemas.microsoft.com/office/drawing/2014/main" id="{53E71FA6-7436-D14E-30B7-7EE8E2885AA4}"/>
                  </a:ext>
                </a:extLst>
              </p:cNvPr>
              <p:cNvSpPr txBox="1"/>
              <p:nvPr/>
            </p:nvSpPr>
            <p:spPr>
              <a:xfrm>
                <a:off x="5106968" y="6950082"/>
                <a:ext cx="2969787" cy="30777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 sz="18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𝑈𝐶𝐵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𝛽𝜎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121" name="Equation">
                <a:extLst>
                  <a:ext uri="{FF2B5EF4-FFF2-40B4-BE49-F238E27FC236}">
                    <a16:creationId xmlns:a16="http://schemas.microsoft.com/office/drawing/2014/main" id="{53E71FA6-7436-D14E-30B7-7EE8E2885A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6968" y="6950082"/>
                <a:ext cx="2969787" cy="307777"/>
              </a:xfrm>
              <a:prstGeom prst="rect">
                <a:avLst/>
              </a:prstGeom>
              <a:blipFill>
                <a:blip r:embed="rId5"/>
                <a:stretch>
                  <a:fillRect l="-1709" r="-2564" b="-32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2" name="Equation">
                <a:extLst>
                  <a:ext uri="{FF2B5EF4-FFF2-40B4-BE49-F238E27FC236}">
                    <a16:creationId xmlns:a16="http://schemas.microsoft.com/office/drawing/2014/main" id="{8C2214F3-2BA3-D311-FF4E-A78D60040F0B}"/>
                  </a:ext>
                </a:extLst>
              </p:cNvPr>
              <p:cNvSpPr txBox="1"/>
              <p:nvPr/>
            </p:nvSpPr>
            <p:spPr>
              <a:xfrm>
                <a:off x="704429" y="6742703"/>
                <a:ext cx="3647922" cy="69769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 sz="18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𝑅𝐵𝐹</m:t>
                          </m:r>
                        </m:sub>
                      </m:sSub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𝐱</m:t>
                      </m:r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p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p>
                                  <m: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p>
                                <m:sSupPr>
                                  <m:ctrlP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  <m:sup>
                                  <m: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p>
                                  <m:r>
                                    <a:rPr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122" name="Equation">
                <a:extLst>
                  <a:ext uri="{FF2B5EF4-FFF2-40B4-BE49-F238E27FC236}">
                    <a16:creationId xmlns:a16="http://schemas.microsoft.com/office/drawing/2014/main" id="{8C2214F3-2BA3-D311-FF4E-A78D60040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429" y="6742703"/>
                <a:ext cx="3647922" cy="697692"/>
              </a:xfrm>
              <a:prstGeom prst="rect">
                <a:avLst/>
              </a:prstGeom>
              <a:blipFill>
                <a:blip r:embed="rId6"/>
                <a:stretch>
                  <a:fillRect l="-138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3" name="Content Placeholder 2">
            <a:extLst>
              <a:ext uri="{FF2B5EF4-FFF2-40B4-BE49-F238E27FC236}">
                <a16:creationId xmlns:a16="http://schemas.microsoft.com/office/drawing/2014/main" id="{001CCC67-FE0D-16FC-7D16-A65DE6C4B194}"/>
              </a:ext>
            </a:extLst>
          </p:cNvPr>
          <p:cNvSpPr txBox="1">
            <a:spLocks/>
          </p:cNvSpPr>
          <p:nvPr/>
        </p:nvSpPr>
        <p:spPr>
          <a:xfrm>
            <a:off x="778601" y="7438382"/>
            <a:ext cx="4028490" cy="11254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1pPr>
            <a:lvl2pPr marL="715963" indent="-373063" algn="l" defTabSz="457200" rtl="0" eaLnBrk="1" latinLnBrk="0" hangingPunct="1">
              <a:spcBef>
                <a:spcPct val="20000"/>
              </a:spcBef>
              <a:buFont typeface="Wingdings" charset="2"/>
              <a:buChar char="§"/>
              <a:tabLst/>
              <a:defRPr sz="18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2600" b="1" dirty="0" err="1">
                <a:solidFill>
                  <a:srgbClr val="0391A3"/>
                </a:solidFill>
              </a:rPr>
              <a:t>Generalization</a:t>
            </a:r>
            <a:endParaRPr lang="de-DE" sz="2600" b="1" dirty="0">
              <a:solidFill>
                <a:srgbClr val="0391A3"/>
              </a:solidFill>
            </a:endParaRPr>
          </a:p>
          <a:p>
            <a:pPr>
              <a:spcBef>
                <a:spcPts val="0"/>
              </a:spcBef>
            </a:pPr>
            <a:r>
              <a:rPr lang="en-GB" sz="2600" dirty="0"/>
              <a:t>higher </a:t>
            </a:r>
            <a:r>
              <a:rPr lang="el-GR" sz="2600" dirty="0"/>
              <a:t>λ</a:t>
            </a:r>
            <a:r>
              <a:rPr lang="de-DE" sz="2600" dirty="0"/>
              <a:t> = smoother, </a:t>
            </a:r>
            <a:r>
              <a:rPr lang="de-DE" sz="2600" dirty="0" err="1"/>
              <a:t>higher</a:t>
            </a:r>
            <a:r>
              <a:rPr lang="de-DE" sz="2600" dirty="0"/>
              <a:t> </a:t>
            </a:r>
            <a:r>
              <a:rPr lang="de-DE" sz="2600" dirty="0" err="1"/>
              <a:t>correlation</a:t>
            </a:r>
            <a:r>
              <a:rPr lang="en-GB" sz="2600" dirty="0"/>
              <a:t> </a:t>
            </a:r>
            <a:endParaRPr lang="en-US" sz="2600" dirty="0"/>
          </a:p>
        </p:txBody>
      </p:sp>
      <p:sp>
        <p:nvSpPr>
          <p:cNvPr id="124" name="Content Placeholder 2">
            <a:extLst>
              <a:ext uri="{FF2B5EF4-FFF2-40B4-BE49-F238E27FC236}">
                <a16:creationId xmlns:a16="http://schemas.microsoft.com/office/drawing/2014/main" id="{6759EAF2-FA5A-FFC9-C28E-D788610AC022}"/>
              </a:ext>
            </a:extLst>
          </p:cNvPr>
          <p:cNvSpPr txBox="1">
            <a:spLocks/>
          </p:cNvSpPr>
          <p:nvPr/>
        </p:nvSpPr>
        <p:spPr>
          <a:xfrm>
            <a:off x="4991056" y="7456245"/>
            <a:ext cx="3455332" cy="11254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1pPr>
            <a:lvl2pPr marL="715963" indent="-373063" algn="l" defTabSz="457200" rtl="0" eaLnBrk="1" latinLnBrk="0" hangingPunct="1">
              <a:spcBef>
                <a:spcPct val="20000"/>
              </a:spcBef>
              <a:buFont typeface="Wingdings" charset="2"/>
              <a:buChar char="§"/>
              <a:tabLst/>
              <a:defRPr sz="18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2600" b="1" dirty="0">
                <a:solidFill>
                  <a:srgbClr val="0391A3"/>
                </a:solidFill>
              </a:rPr>
              <a:t>UCB </a:t>
            </a:r>
            <a:r>
              <a:rPr lang="de-DE" sz="2600" b="1" dirty="0" err="1">
                <a:solidFill>
                  <a:srgbClr val="0391A3"/>
                </a:solidFill>
              </a:rPr>
              <a:t>sampling</a:t>
            </a:r>
            <a:endParaRPr lang="de-DE" sz="2600" b="1" dirty="0">
              <a:solidFill>
                <a:srgbClr val="0391A3"/>
              </a:solidFill>
            </a:endParaRPr>
          </a:p>
          <a:p>
            <a:pPr>
              <a:spcBef>
                <a:spcPts val="0"/>
              </a:spcBef>
            </a:pPr>
            <a:r>
              <a:rPr lang="en-GB" sz="2600" dirty="0"/>
              <a:t>higher </a:t>
            </a:r>
            <a:r>
              <a:rPr lang="el-GR" sz="2600" dirty="0"/>
              <a:t>β</a:t>
            </a:r>
            <a:r>
              <a:rPr lang="de-DE" sz="2600" dirty="0"/>
              <a:t> = </a:t>
            </a:r>
            <a:r>
              <a:rPr lang="de-DE" sz="2600" dirty="0" err="1"/>
              <a:t>more</a:t>
            </a:r>
            <a:r>
              <a:rPr lang="de-DE" sz="2600" dirty="0"/>
              <a:t> </a:t>
            </a:r>
            <a:r>
              <a:rPr lang="de-DE" sz="2600" dirty="0" err="1"/>
              <a:t>directed</a:t>
            </a:r>
            <a:r>
              <a:rPr lang="de-DE" sz="2600" dirty="0"/>
              <a:t> </a:t>
            </a:r>
            <a:r>
              <a:rPr lang="de-DE" sz="2600" dirty="0" err="1"/>
              <a:t>exploration</a:t>
            </a:r>
            <a:r>
              <a:rPr lang="en-GB" sz="2600" dirty="0"/>
              <a:t> </a:t>
            </a:r>
            <a:endParaRPr lang="en-US" sz="2600" dirty="0"/>
          </a:p>
        </p:txBody>
      </p:sp>
      <p:sp>
        <p:nvSpPr>
          <p:cNvPr id="125" name="Content Placeholder 2">
            <a:extLst>
              <a:ext uri="{FF2B5EF4-FFF2-40B4-BE49-F238E27FC236}">
                <a16:creationId xmlns:a16="http://schemas.microsoft.com/office/drawing/2014/main" id="{D14ACC8A-6FE0-F166-9706-E3E692570982}"/>
              </a:ext>
            </a:extLst>
          </p:cNvPr>
          <p:cNvSpPr txBox="1">
            <a:spLocks/>
          </p:cNvSpPr>
          <p:nvPr/>
        </p:nvSpPr>
        <p:spPr>
          <a:xfrm>
            <a:off x="9588298" y="6875671"/>
            <a:ext cx="4028490" cy="11254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Wingdings" charset="2"/>
              <a:buNone/>
              <a:defRPr sz="22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1pPr>
            <a:lvl2pPr marL="715963" indent="-373063" algn="l" defTabSz="457200" rtl="0" eaLnBrk="1" latinLnBrk="0" hangingPunct="1">
              <a:spcBef>
                <a:spcPct val="20000"/>
              </a:spcBef>
              <a:buFont typeface="Wingdings" charset="2"/>
              <a:buChar char="§"/>
              <a:tabLst/>
              <a:defRPr sz="18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b="0" i="0" kern="1200">
                <a:solidFill>
                  <a:schemeClr val="tx1"/>
                </a:solidFill>
                <a:latin typeface="Helvetica Neue Light"/>
                <a:ea typeface="+mn-ea"/>
                <a:cs typeface="Helvetica Neue Light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2600" b="1" dirty="0" err="1">
                <a:solidFill>
                  <a:srgbClr val="0391A3"/>
                </a:solidFill>
              </a:rPr>
              <a:t>Softmax</a:t>
            </a:r>
            <a:r>
              <a:rPr lang="de-DE" sz="2600" b="1" dirty="0">
                <a:solidFill>
                  <a:srgbClr val="0391A3"/>
                </a:solidFill>
              </a:rPr>
              <a:t> </a:t>
            </a:r>
            <a:r>
              <a:rPr lang="de-DE" sz="2600" b="1" dirty="0" err="1">
                <a:solidFill>
                  <a:srgbClr val="0391A3"/>
                </a:solidFill>
              </a:rPr>
              <a:t>choice</a:t>
            </a:r>
            <a:r>
              <a:rPr lang="de-DE" sz="2600" b="1" dirty="0">
                <a:solidFill>
                  <a:srgbClr val="0391A3"/>
                </a:solidFill>
              </a:rPr>
              <a:t> </a:t>
            </a:r>
            <a:r>
              <a:rPr lang="de-DE" sz="2600" b="1" dirty="0" err="1">
                <a:solidFill>
                  <a:srgbClr val="0391A3"/>
                </a:solidFill>
              </a:rPr>
              <a:t>rule</a:t>
            </a:r>
            <a:endParaRPr lang="de-DE" sz="2600" b="1" dirty="0">
              <a:solidFill>
                <a:srgbClr val="0391A3"/>
              </a:solidFill>
            </a:endParaRPr>
          </a:p>
          <a:p>
            <a:pPr>
              <a:spcBef>
                <a:spcPts val="0"/>
              </a:spcBef>
            </a:pPr>
            <a:r>
              <a:rPr lang="de-DE" sz="2600" dirty="0" err="1"/>
              <a:t>higher</a:t>
            </a:r>
            <a:r>
              <a:rPr lang="de-DE" sz="2600" dirty="0"/>
              <a:t> </a:t>
            </a:r>
            <a:r>
              <a:rPr lang="el-GR" sz="2600" dirty="0"/>
              <a:t>τ</a:t>
            </a:r>
            <a:r>
              <a:rPr lang="de-DE" sz="2600" dirty="0"/>
              <a:t> = </a:t>
            </a:r>
            <a:r>
              <a:rPr lang="de-DE" sz="2600" dirty="0" err="1"/>
              <a:t>more</a:t>
            </a:r>
            <a:r>
              <a:rPr lang="de-DE" sz="2600" dirty="0"/>
              <a:t> </a:t>
            </a:r>
            <a:r>
              <a:rPr lang="de-DE" sz="2600" dirty="0" err="1"/>
              <a:t>random</a:t>
            </a:r>
            <a:r>
              <a:rPr lang="de-DE" sz="2600" dirty="0"/>
              <a:t> </a:t>
            </a:r>
            <a:r>
              <a:rPr lang="de-DE" sz="2600" dirty="0" err="1"/>
              <a:t>exploration</a:t>
            </a:r>
            <a:r>
              <a:rPr lang="en-GB" sz="2600" dirty="0"/>
              <a:t> </a:t>
            </a:r>
            <a:endParaRPr lang="en-US" sz="2600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2FB0BC50-C417-F82F-0525-A9B428B21BD0}"/>
              </a:ext>
            </a:extLst>
          </p:cNvPr>
          <p:cNvSpPr txBox="1"/>
          <p:nvPr/>
        </p:nvSpPr>
        <p:spPr>
          <a:xfrm>
            <a:off x="5145845" y="717141"/>
            <a:ext cx="162989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0" bIns="0" rtlCol="0">
            <a:spAutoFit/>
          </a:bodyPr>
          <a:lstStyle/>
          <a:p>
            <a:pPr algn="l"/>
            <a:r>
              <a:rPr lang="el-GR" i="1" dirty="0">
                <a:latin typeface="Cambria Math" panose="02040503050406030204" pitchFamily="18" charset="0"/>
                <a:ea typeface="Cambria Math" panose="02040503050406030204" pitchFamily="18" charset="0"/>
                <a:cs typeface="Helvetica Neue" panose="02000503000000020004" pitchFamily="2" charset="0"/>
              </a:rPr>
              <a:t>μ</a:t>
            </a:r>
            <a:endParaRPr lang="en-US" i="1" dirty="0">
              <a:latin typeface="Cambria Math" panose="02040503050406030204" pitchFamily="18" charset="0"/>
              <a:ea typeface="Cambria Math" panose="02040503050406030204" pitchFamily="18" charset="0"/>
              <a:cs typeface="Helvetica Neue" panose="02000503000000020004" pitchFamily="2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62D5806-7274-68B1-5D6B-244D39ACB839}"/>
              </a:ext>
            </a:extLst>
          </p:cNvPr>
          <p:cNvSpPr txBox="1"/>
          <p:nvPr/>
        </p:nvSpPr>
        <p:spPr>
          <a:xfrm>
            <a:off x="8257695" y="717141"/>
            <a:ext cx="13144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l-GR" i="1" dirty="0">
                <a:latin typeface="Cambria Math" panose="02040503050406030204" pitchFamily="18" charset="0"/>
                <a:ea typeface="Cambria Math" panose="02040503050406030204" pitchFamily="18" charset="0"/>
                <a:cs typeface="Helvetica Neue" panose="02000503000000020004" pitchFamily="2" charset="0"/>
              </a:rPr>
              <a:t>σ</a:t>
            </a:r>
            <a:endParaRPr lang="en-US" i="1" dirty="0">
              <a:latin typeface="Cambria Math" panose="02040503050406030204" pitchFamily="18" charset="0"/>
              <a:ea typeface="Cambria Math" panose="02040503050406030204" pitchFamily="18" charset="0"/>
              <a:cs typeface="Helvetica Neue" panose="02000503000000020004" pitchFamily="2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7EFC8E9-AED8-2340-C3F9-073EEDF1518C}"/>
              </a:ext>
            </a:extLst>
          </p:cNvPr>
          <p:cNvSpPr txBox="1"/>
          <p:nvPr/>
        </p:nvSpPr>
        <p:spPr>
          <a:xfrm>
            <a:off x="199091" y="101205"/>
            <a:ext cx="1864613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Observations (t=8)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44F9FEA-F76D-C596-17BC-1A054775AC41}"/>
              </a:ext>
            </a:extLst>
          </p:cNvPr>
          <p:cNvSpPr txBox="1"/>
          <p:nvPr/>
        </p:nvSpPr>
        <p:spPr>
          <a:xfrm>
            <a:off x="8663055" y="101205"/>
            <a:ext cx="3129383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Upper Confidence Bound (UCB)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7CBEC980-45FA-FFD4-5C53-C9FF1AC5370E}"/>
              </a:ext>
            </a:extLst>
          </p:cNvPr>
          <p:cNvSpPr txBox="1"/>
          <p:nvPr/>
        </p:nvSpPr>
        <p:spPr>
          <a:xfrm>
            <a:off x="2752652" y="101205"/>
            <a:ext cx="1844351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Expected rewards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42ACE3A-8906-973B-59E8-4A6986CFBEE2}"/>
              </a:ext>
            </a:extLst>
          </p:cNvPr>
          <p:cNvSpPr txBox="1"/>
          <p:nvPr/>
        </p:nvSpPr>
        <p:spPr>
          <a:xfrm>
            <a:off x="5916377" y="101205"/>
            <a:ext cx="1236236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Uncertainty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1C0CCE-674D-C10A-D9EE-205931CB3B8D}"/>
              </a:ext>
            </a:extLst>
          </p:cNvPr>
          <p:cNvSpPr txBox="1"/>
          <p:nvPr/>
        </p:nvSpPr>
        <p:spPr>
          <a:xfrm>
            <a:off x="12151301" y="101205"/>
            <a:ext cx="2026004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Softmax</a:t>
            </a:r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predictions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A09056-4842-FEBC-7CEC-00DF7C20BB63}"/>
              </a:ext>
            </a:extLst>
          </p:cNvPr>
          <p:cNvSpPr txBox="1"/>
          <p:nvPr/>
        </p:nvSpPr>
        <p:spPr>
          <a:xfrm>
            <a:off x="4597003" y="2811354"/>
            <a:ext cx="1649811" cy="288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Generalization </a:t>
            </a:r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  <a:cs typeface="Helvetica Neue" panose="02000503000000020004" pitchFamily="2" charset="0"/>
              </a:rPr>
              <a:t>λ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  <a:cs typeface="Helvetica Neue" panose="02000503000000020004" pitchFamily="2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310774B-1C12-C858-5CC0-CA62113525FC}"/>
              </a:ext>
            </a:extLst>
          </p:cNvPr>
          <p:cNvSpPr txBox="1"/>
          <p:nvPr/>
        </p:nvSpPr>
        <p:spPr>
          <a:xfrm>
            <a:off x="7653804" y="2811354"/>
            <a:ext cx="2016899" cy="288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Exploration bonus </a:t>
            </a:r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  <a:cs typeface="Helvetica Neue" panose="02000503000000020004" pitchFamily="2" charset="0"/>
              </a:rPr>
              <a:t>β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  <a:cs typeface="Helvetica Neue" panose="02000503000000020004" pitchFamily="2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C4AAFC5-30BE-1975-A235-CCA654A21B78}"/>
              </a:ext>
            </a:extLst>
          </p:cNvPr>
          <p:cNvSpPr txBox="1"/>
          <p:nvPr/>
        </p:nvSpPr>
        <p:spPr>
          <a:xfrm>
            <a:off x="10648791" y="2811354"/>
            <a:ext cx="2292102" cy="288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Random temperature </a:t>
            </a:r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  <a:cs typeface="Helvetica Neue" panose="02000503000000020004" pitchFamily="2" charset="0"/>
              </a:rPr>
              <a:t>τ</a:t>
            </a:r>
            <a:endParaRPr lang="en-US" sz="1600" dirty="0">
              <a:latin typeface="Cambria Math" panose="02040503050406030204" pitchFamily="18" charset="0"/>
              <a:ea typeface="Cambria Math" panose="02040503050406030204" pitchFamily="18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256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86</Words>
  <Application>Microsoft Macintosh PowerPoint</Application>
  <PresentationFormat>Custom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BM</dc:creator>
  <cp:lastModifiedBy>BM</cp:lastModifiedBy>
  <cp:revision>2</cp:revision>
  <dcterms:created xsi:type="dcterms:W3CDTF">2025-07-25T13:56:53Z</dcterms:created>
  <dcterms:modified xsi:type="dcterms:W3CDTF">2025-07-31T17:54:45Z</dcterms:modified>
</cp:coreProperties>
</file>